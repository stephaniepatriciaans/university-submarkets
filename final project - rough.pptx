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461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Final Project prompt (user upload): /mnt/data/Final Project.pdf
- Deck theme/style inspired by user uploads: example-presentation-1.pdf, example-presentation-2.pdf, example-presentation-3.pdf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Final Project prompt (user upload): /mnt/data/Final Project.pdf
- Official UCSD long-range development plan: https://plandesignbuild.ucsd.edu/planning/lrdp/la-jolla.html
- Official SDSU housing / Evolve project pages: https://housing.sdsu.edu/ and https://pdc.sdsu.edu/public-info-eir/eir
- Official USD facts / transportation pages: https://www.sandiego.edu/about/usd-facts.php and https://www.sandiego.edu/commuter-commons/living-off-campus/transportation-and-parking.php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dataset: /tmp/hw42deck/ucsd, sdsu, usd/outputs/tables/summary_table.csv
- Official UCSD enrollment / planning / transit: https://ir.ucsd.edu/stats/undergrad/CDS_UCSD_2024-20252.pdf ; https://plandesignbuild.ucsd.edu/planning/lrdp/la-jolla.html ; https://transportation.ucsd.edu/campus/guide.html
- Official SDSU enrollment / housing / transit: https://www.sdsu.edu/about/facts-mission-and-history ; https://housing.sdsu.edu/ ; https://parking.sdsu.edu/commuting/mts
- Official USD facts / transit: https://www.sandiego.edu/about/usd-facts.php ; https://www.sandiego.edu/commuter-commons/living-off-campus/transportation-and-parking.php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chart: /tmp/hw42deck/ucsd, sdsu, usd/outputs/figures/investment_score_ranking.png
- User-provided tables: /tmp/hw42deck/ucsd, sdsu, usd/outputs/tables/summary_table.csv and analysis_summary_table.csv
- Scoring logic from user script: /tmp/hw42deck/ucsd, sdsu, usd/hw4.2.py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charts: /tmp/hw42deck/ucsd, sdsu, usd/outputs/figures/value_vs_yield_scatter.png and expansion_housing_comparison.png
- Official UCSD planning page: https://plandesignbuild.ucsd.edu/planning/lrdp/la-jolla.html
- Official SDSU Evolve pages: https://housing.sdsu.edu/ and https://pdc.sdsu.edu/public-info-eir/eir
- User-provided table: /tmp/hw42deck/ucsd, sdsu, usd/outputs/tables/summary_table.csv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chart: /tmp/hw41deck/hw4.1/sd_uni_comparison_bar.png
- User-provided summary files: /tmp/hw41deck/hw4.1/sd_uni_submarket_summary.csv and sd_uni_near15km_premium.csv
- User-provided script: /tmp/hw41deck/hw4.1/hw4.1.py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Synthesis from user-provided tables and charts in hw4.1 and hw4.2
- Official UCSD planning / transit sources: https://plandesignbuild.ucsd.edu/planning/lrdp/la-jolla.html ; https://transportation.ucsd.edu/campus/guide.html
- Official SDSU facts / housing / transit sources: https://www.sdsu.edu/about/facts-mission-and-history ; https://housing.sdsu.edu/ ; https://parking.sdsu.edu/commuting/mts
- Official USD facts / transit sources: https://www.sandiego.edu/about/usd-facts.php ; https://www.sandiego.edu/commuter-commons/living-off-campus/transportation-and-parking.php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Conclusion synthesized from user-provided hw4.1 and hw4.2 outputs
- Supporting official sources listed in prior slide notes (UCSD, SDSU, USD facts / planning / transit pages)
- Historical support from /tmp/hw41deck/hw4.1/sd_uni_submarket_summary.csv and sd_uni_near15km_premium.csv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0774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" y="932688"/>
            <a:ext cx="73152" cy="4206240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932688"/>
            <a:ext cx="73152" cy="4206240"/>
          </a:xfrm>
          <a:prstGeom prst="rect">
            <a:avLst/>
          </a:prstGeom>
          <a:solidFill>
            <a:srgbClr val="00629B"/>
          </a:solidFill>
          <a:ln w="12700">
            <a:solidFill>
              <a:srgbClr val="0062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7552" y="932688"/>
            <a:ext cx="73152" cy="42062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25880" y="10972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Submarkets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Investing in Homes Near Expanding Universities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44168" y="248716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Diego case study: SDSU vs UCSD vs USD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44168" y="290779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 / REIT proposal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53312" y="3886200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C41230"/>
          </a:solidFill>
          <a:ln w="12700">
            <a:solidFill>
              <a:srgbClr val="C4123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53312" y="392277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SDSU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31136" y="3886200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00629B"/>
          </a:solidFill>
          <a:ln w="12700">
            <a:solidFill>
              <a:srgbClr val="0062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31136" y="392277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UCSD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08960" y="3886200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08960" y="392277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32320" y="480060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university-bordering residential markets are concrete, researchable, and easier to defend with expansion plans, enrollment, transit access, rent support, and price history.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03720" y="4441371"/>
            <a:ext cx="4526280" cy="1502229"/>
          </a:xfrm>
          <a:prstGeom prst="rect">
            <a:avLst/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sz="1400" dirty="0">
                <a:latin typeface="Clarendon BT Roman" panose="02040704040505020204" pitchFamily="18" charset="0"/>
              </a:rPr>
              <a:t>Group 7</a:t>
            </a:r>
          </a:p>
          <a:p>
            <a:r>
              <a:rPr lang="en-US" sz="1400" dirty="0">
                <a:latin typeface="Clarendon BT Roman" panose="02040704040505020204" pitchFamily="18" charset="0"/>
              </a:rPr>
              <a:t>Stephanie </a:t>
            </a:r>
            <a:r>
              <a:rPr lang="en-US" sz="1400" dirty="0" err="1">
                <a:latin typeface="Clarendon BT Roman" panose="02040704040505020204" pitchFamily="18" charset="0"/>
              </a:rPr>
              <a:t>Anshell</a:t>
            </a:r>
            <a:r>
              <a:rPr lang="en-US" sz="1400" dirty="0">
                <a:latin typeface="Clarendon BT Roman" panose="02040704040505020204" pitchFamily="18" charset="0"/>
              </a:rPr>
              <a:t> (</a:t>
            </a:r>
            <a:r>
              <a:rPr lang="en-US" sz="1400" dirty="0">
                <a:effectLst/>
                <a:latin typeface="Clarendon BT Roman" panose="02040704040505020204" pitchFamily="18" charset="0"/>
              </a:rPr>
              <a:t>A18503005</a:t>
            </a:r>
            <a:r>
              <a:rPr lang="en-US" sz="1400" dirty="0">
                <a:latin typeface="Clarendon BT Roman" panose="02040704040505020204" pitchFamily="18" charset="0"/>
              </a:rPr>
              <a:t>)</a:t>
            </a:r>
          </a:p>
          <a:p>
            <a:pPr rtl="0">
              <a:buNone/>
            </a:pPr>
            <a:r>
              <a:rPr lang="en-US" sz="1400" u="none" strike="noStrike" dirty="0" err="1">
                <a:effectLst/>
                <a:latin typeface="Clarendon BT Roman" panose="02040704040505020204" pitchFamily="18" charset="0"/>
              </a:rPr>
              <a:t>Jaevlyn</a:t>
            </a:r>
            <a:r>
              <a:rPr lang="en-US" sz="1400" u="none" strike="noStrike" dirty="0">
                <a:effectLst/>
                <a:latin typeface="Clarendon BT Roman" panose="02040704040505020204" pitchFamily="18" charset="0"/>
              </a:rPr>
              <a:t> </a:t>
            </a:r>
            <a:r>
              <a:rPr lang="en-US" sz="1400" u="none" strike="noStrike" dirty="0" err="1">
                <a:effectLst/>
                <a:latin typeface="Clarendon BT Roman" panose="02040704040505020204" pitchFamily="18" charset="0"/>
              </a:rPr>
              <a:t>Tanuwidjaja</a:t>
            </a:r>
            <a:endParaRPr lang="en-US" sz="1400" dirty="0">
              <a:latin typeface="Clarendon BT Roman" panose="02040704040505020204" pitchFamily="18" charset="0"/>
            </a:endParaRPr>
          </a:p>
          <a:p>
            <a:pPr rtl="0">
              <a:buNone/>
            </a:pPr>
            <a:r>
              <a:rPr lang="en-US" sz="1400" u="none" strike="noStrike" dirty="0">
                <a:effectLst/>
                <a:latin typeface="Clarendon BT Roman" panose="02040704040505020204" pitchFamily="18" charset="0"/>
              </a:rPr>
              <a:t>Darwin Johan</a:t>
            </a:r>
          </a:p>
          <a:p>
            <a:r>
              <a:rPr lang="en-US" sz="1400" u="none" strike="noStrike" dirty="0">
                <a:effectLst/>
                <a:latin typeface="Clarendon BT Roman" panose="02040704040505020204" pitchFamily="18" charset="0"/>
              </a:rPr>
              <a:t>Jon Dang</a:t>
            </a:r>
            <a:endParaRPr lang="en-US" sz="1400" dirty="0">
              <a:effectLst/>
              <a:latin typeface="Clarendon BT Roman" panose="02040704040505020204" pitchFamily="18" charset="0"/>
            </a:endParaRPr>
          </a:p>
          <a:p>
            <a:pPr rtl="0">
              <a:buNone/>
            </a:pPr>
            <a:r>
              <a:rPr lang="en-US" sz="1400" u="none" strike="noStrike" dirty="0">
                <a:effectLst/>
                <a:latin typeface="Clarendon BT Roman" panose="02040704040505020204" pitchFamily="18" charset="0"/>
              </a:rPr>
              <a:t>Collin Montenegro</a:t>
            </a:r>
            <a:br>
              <a:rPr lang="en-US" sz="1400" dirty="0">
                <a:latin typeface="Clarendon BT Roman" panose="02040704040505020204" pitchFamily="18" charset="0"/>
              </a:rPr>
            </a:br>
            <a:endParaRPr lang="en-US" sz="1400" dirty="0">
              <a:latin typeface="Clarendon BT Roman" panose="0204070404050502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631168" y="649224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77824"/>
            <a:ext cx="11368735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 &amp; Why Universities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035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topic is easier to defend than a broad speculative theme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1230"/>
                </a:solidFill>
              </a:rPr>
              <a:t>Question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4983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</a:rPr>
              <a:t>Which San Diego university-bordering housing submarket looks most attractive for a REIT: SDSU, UCSD, or USD?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11480" y="2703007"/>
            <a:ext cx="4391632" cy="387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29B"/>
                </a:solidFill>
              </a:rPr>
              <a:t>Why this framing works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3385893"/>
            <a:ext cx="4800600" cy="2825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concrete than climate-haven narratives: we can point to specific campuses, neighborhoods, and housing pipelines.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university plans make demand and supply changes observable instead of purely speculative.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Housing proxies are easy to compare across nearby ZIPs using rents, values, and historical price growth.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42431" y="1664208"/>
            <a:ext cx="1843067" cy="621792"/>
          </a:xfrm>
          <a:prstGeom prst="rect">
            <a:avLst/>
          </a:prstGeom>
          <a:solidFill>
            <a:srgbClr val="FCEBED"/>
          </a:solidFill>
          <a:ln>
            <a:solidFill>
              <a:srgbClr val="C4123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</a:rPr>
              <a:t>University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</a:rPr>
              <a:t>expansion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62671" y="1664208"/>
            <a:ext cx="1843069" cy="621792"/>
          </a:xfrm>
          <a:prstGeom prst="rect">
            <a:avLst/>
          </a:prstGeom>
          <a:solidFill>
            <a:srgbClr val="EAF3FA"/>
          </a:solidFill>
          <a:ln>
            <a:solidFill>
              <a:srgbClr val="00629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</a:rPr>
              <a:t>Student demand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582912" y="1664208"/>
            <a:ext cx="2048256" cy="621792"/>
          </a:xfrm>
          <a:prstGeom prst="rect">
            <a:avLst/>
          </a:prstGeom>
          <a:solidFill>
            <a:srgbClr val="ECF7F0"/>
          </a:solidFill>
          <a:ln>
            <a:solidFill>
              <a:srgbClr val="2E8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</a:rPr>
              <a:t>Neighborhood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</a:rPr>
              <a:t>housing demand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760720" y="294436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Focus on signals we can actually document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60720" y="3182112"/>
            <a:ext cx="502920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scale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 access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housing plans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values and rent support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appreciation patterns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760720" y="5413248"/>
            <a:ext cx="5486400" cy="676656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61888" y="5577840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</a:rPr>
              <a:t>Bottom line: this topic gives a cleaner CEO pitch because both the thesis and the evidence are specific.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631168" y="649224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77824"/>
            <a:ext cx="11368735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Definition &amp; Data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035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campus-adjacent submarkets, using nearby ZIPs as practical proxies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024128" cy="512064"/>
          </a:xfrm>
          <a:prstGeom prst="rect">
            <a:avLst/>
          </a:prstGeom>
          <a:solidFill>
            <a:srgbClr val="111111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35608" y="1234440"/>
            <a:ext cx="2359152" cy="512064"/>
          </a:xfrm>
          <a:prstGeom prst="rect">
            <a:avLst/>
          </a:prstGeom>
          <a:solidFill>
            <a:srgbClr val="111111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area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94760" y="1234440"/>
            <a:ext cx="1024128" cy="512064"/>
          </a:xfrm>
          <a:prstGeom prst="rect">
            <a:avLst/>
          </a:prstGeom>
          <a:solidFill>
            <a:srgbClr val="111111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18888" y="1234440"/>
            <a:ext cx="1152144" cy="512064"/>
          </a:xfrm>
          <a:prstGeom prst="rect">
            <a:avLst/>
          </a:prstGeom>
          <a:solidFill>
            <a:srgbClr val="111111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rail?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71032" y="1234440"/>
            <a:ext cx="1298448" cy="512064"/>
          </a:xfrm>
          <a:prstGeom prst="rect">
            <a:avLst/>
          </a:prstGeom>
          <a:solidFill>
            <a:srgbClr val="111111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new beds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69480" y="1234440"/>
            <a:ext cx="1481328" cy="512064"/>
          </a:xfrm>
          <a:prstGeom prst="rect">
            <a:avLst/>
          </a:prstGeom>
          <a:solidFill>
            <a:srgbClr val="111111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home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50808" y="1234440"/>
            <a:ext cx="932688" cy="512064"/>
          </a:xfrm>
          <a:prstGeom prst="rect">
            <a:avLst/>
          </a:prstGeom>
          <a:solidFill>
            <a:srgbClr val="111111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1746504"/>
            <a:ext cx="1024128" cy="512064"/>
          </a:xfrm>
          <a:prstGeom prst="rect">
            <a:avLst/>
          </a:prstGeom>
          <a:solidFill>
            <a:srgbClr val="FCEBED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SDSU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35608" y="1746504"/>
            <a:ext cx="2359152" cy="512064"/>
          </a:xfrm>
          <a:prstGeom prst="rect">
            <a:avLst/>
          </a:prstGeom>
          <a:solidFill>
            <a:srgbClr val="FCEBED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Area / 92115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94760" y="1746504"/>
            <a:ext cx="1024128" cy="512064"/>
          </a:xfrm>
          <a:prstGeom prst="rect">
            <a:avLst/>
          </a:prstGeom>
          <a:solidFill>
            <a:srgbClr val="FCEBED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39,000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18888" y="1746504"/>
            <a:ext cx="1152144" cy="512064"/>
          </a:xfrm>
          <a:prstGeom prst="rect">
            <a:avLst/>
          </a:prstGeom>
          <a:solidFill>
            <a:srgbClr val="FCEBED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71032" y="1746504"/>
            <a:ext cx="1298448" cy="512064"/>
          </a:xfrm>
          <a:prstGeom prst="rect">
            <a:avLst/>
          </a:prstGeom>
          <a:solidFill>
            <a:srgbClr val="FCEBED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4,468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69480" y="1746504"/>
            <a:ext cx="1481328" cy="512064"/>
          </a:xfrm>
          <a:prstGeom prst="rect">
            <a:avLst/>
          </a:prstGeom>
          <a:solidFill>
            <a:srgbClr val="FCEBED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$835k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50808" y="1746504"/>
            <a:ext cx="932688" cy="512064"/>
          </a:xfrm>
          <a:prstGeom prst="rect">
            <a:avLst/>
          </a:prstGeom>
          <a:solidFill>
            <a:srgbClr val="FCEBED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6.18%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1480" y="2258568"/>
            <a:ext cx="1024128" cy="512064"/>
          </a:xfrm>
          <a:prstGeom prst="rect">
            <a:avLst/>
          </a:prstGeom>
          <a:solidFill>
            <a:srgbClr val="EAF3FA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UCSD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35608" y="2258568"/>
            <a:ext cx="2359152" cy="512064"/>
          </a:xfrm>
          <a:prstGeom prst="rect">
            <a:avLst/>
          </a:prstGeom>
          <a:solidFill>
            <a:srgbClr val="EAF3FA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City / 92122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94760" y="2258568"/>
            <a:ext cx="1024128" cy="512064"/>
          </a:xfrm>
          <a:prstGeom prst="rect">
            <a:avLst/>
          </a:prstGeom>
          <a:solidFill>
            <a:srgbClr val="EAF3FA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44,256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18888" y="2258568"/>
            <a:ext cx="1152144" cy="512064"/>
          </a:xfrm>
          <a:prstGeom prst="rect">
            <a:avLst/>
          </a:prstGeom>
          <a:solidFill>
            <a:srgbClr val="EAF3FA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71032" y="2258568"/>
            <a:ext cx="1298448" cy="512064"/>
          </a:xfrm>
          <a:prstGeom prst="rect">
            <a:avLst/>
          </a:prstGeom>
          <a:solidFill>
            <a:srgbClr val="EAF3FA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18,910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69480" y="2258568"/>
            <a:ext cx="1481328" cy="512064"/>
          </a:xfrm>
          <a:prstGeom prst="rect">
            <a:avLst/>
          </a:prstGeom>
          <a:solidFill>
            <a:srgbClr val="EAF3FA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$1.073M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750808" y="2258568"/>
            <a:ext cx="932688" cy="512064"/>
          </a:xfrm>
          <a:prstGeom prst="rect">
            <a:avLst/>
          </a:prstGeom>
          <a:solidFill>
            <a:srgbClr val="EAF3FA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3.37%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11480" y="2770632"/>
            <a:ext cx="1024128" cy="512064"/>
          </a:xfrm>
          <a:prstGeom prst="rect">
            <a:avLst/>
          </a:prstGeom>
          <a:solidFill>
            <a:srgbClr val="ECF7F0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35608" y="2770632"/>
            <a:ext cx="2359152" cy="512064"/>
          </a:xfrm>
          <a:prstGeom prst="rect">
            <a:avLst/>
          </a:prstGeom>
          <a:solidFill>
            <a:srgbClr val="ECF7F0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Linda Vista / 92110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794760" y="2770632"/>
            <a:ext cx="1024128" cy="512064"/>
          </a:xfrm>
          <a:prstGeom prst="rect">
            <a:avLst/>
          </a:prstGeom>
          <a:solidFill>
            <a:srgbClr val="ECF7F0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9,714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18888" y="2770632"/>
            <a:ext cx="1152144" cy="512064"/>
          </a:xfrm>
          <a:prstGeom prst="rect">
            <a:avLst/>
          </a:prstGeom>
          <a:solidFill>
            <a:srgbClr val="ECF7F0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direct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971032" y="2770632"/>
            <a:ext cx="1298448" cy="512064"/>
          </a:xfrm>
          <a:prstGeom prst="rect">
            <a:avLst/>
          </a:prstGeom>
          <a:solidFill>
            <a:srgbClr val="ECF7F0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269480" y="2770632"/>
            <a:ext cx="1481328" cy="512064"/>
          </a:xfrm>
          <a:prstGeom prst="rect">
            <a:avLst/>
          </a:prstGeom>
          <a:solidFill>
            <a:srgbClr val="ECF7F0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$989k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750808" y="2770632"/>
            <a:ext cx="932688" cy="512064"/>
          </a:xfrm>
          <a:prstGeom prst="rect">
            <a:avLst/>
          </a:prstGeom>
          <a:solidFill>
            <a:srgbClr val="ECF7F0"/>
          </a:solidFill>
          <a:ln>
            <a:solidFill>
              <a:srgbClr val="D9DDE3"/>
            </a:solidFill>
          </a:ln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3.44%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11480" y="3886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1230"/>
                </a:solidFill>
              </a:rPr>
              <a:t>Data used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11480" y="4114800"/>
            <a:ext cx="51663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university facts pages for enrollment, transit, and housing expansion plans.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Housing-market proxies from the nearby ZIP around each campus.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FHFA price-history outputs and 4.1 tract-level historical return summaries for robustness.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080760" y="38862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29B"/>
                </a:solidFill>
              </a:rPr>
              <a:t>Interpretation rule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080760" y="4114800"/>
            <a:ext cx="51663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not claiming the ZIP is the exact campus boundary.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Instead, each ZIP is a transparent and replicable submarket proxy.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makes the analysis easy to explain and update.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11480" y="5897880"/>
            <a:ext cx="1106424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080" y="604418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</a:rPr>
              <a:t>Proxy-based market definition keeps the story concrete: specific schools, specific nearby neighborhoods, specific expansion plans.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1631168" y="649224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77824"/>
            <a:ext cx="11368735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Result: SDSU Ranks #1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035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multi-factor screen points to SDSU as the best balanced entry market</a:t>
            </a:r>
            <a:endParaRPr lang="en-US" sz="1100" dirty="0"/>
          </a:p>
        </p:txBody>
      </p:sp>
      <p:pic>
        <p:nvPicPr>
          <p:cNvPr id="5" name="Image 0" descr="/tmp/hw42deck/ucsd, sdsu, usd/outputs/figures/investment_score_ra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51660"/>
            <a:ext cx="640080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60920" y="1325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</a:rPr>
              <a:t>Why SDSU comes out first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60920" y="1664208"/>
            <a:ext cx="434340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entry price of the three submarkets.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rent support: 6.18% annual rent-to-value ratio.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Green Line stop on campus.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Meaningful housing pipeline: about 4,468 net new beds.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student base without UCSD-level acquisition cost.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406640" y="4389120"/>
            <a:ext cx="4023360" cy="1097280"/>
          </a:xfrm>
          <a:prstGeom prst="roundRect">
            <a:avLst/>
          </a:prstGeom>
          <a:solidFill>
            <a:srgbClr val="FCEBED"/>
          </a:solidFill>
          <a:ln w="127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543800" y="46451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41230"/>
                </a:solidFill>
              </a:rPr>
              <a:t>Takeaway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C41230"/>
                </a:solidFill>
              </a:rPr>
              <a:t>SDSU is the cleanest “value + yield + access” play.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360920" y="57150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</a:rPr>
              <a:t>Score snapshot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60920" y="592531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SDSU 0.932   |   UCSD 0.600   |   USD 0.168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631168" y="649224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77824"/>
            <a:ext cx="11368735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SDSU Leads: Better Yield at a Lower Entry Price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035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UCSD still matters because it has the biggest official expansion pipeline</a:t>
            </a:r>
            <a:endParaRPr lang="en-US" sz="1100" dirty="0"/>
          </a:p>
        </p:txBody>
      </p:sp>
      <p:pic>
        <p:nvPicPr>
          <p:cNvPr id="5" name="Image 0" descr="/tmp/hw42deck/ucsd, sdsu, usd/outputs/figures/value_vs_yield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7360"/>
            <a:ext cx="6400800" cy="3840480"/>
          </a:xfrm>
          <a:prstGeom prst="rect">
            <a:avLst/>
          </a:prstGeom>
        </p:spPr>
      </p:pic>
      <p:pic>
        <p:nvPicPr>
          <p:cNvPr id="6" name="Image 1" descr="/tmp/hw42deck/ucsd, sdsu, usd/outputs/figures/expansion_housing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463040"/>
            <a:ext cx="4343400" cy="2606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0" y="4370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</a:rPr>
              <a:t>Read the two visuals together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7315200" y="4599432"/>
            <a:ext cx="434340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SDSU offers the highest yield with the lowest average purchase price.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UCSD is more expensive but has the strongest long-run official housing and campus-expansion story.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is useful as a benchmark, but the transit and expansion signal is weaker.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1631168" y="649224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77824"/>
            <a:ext cx="11368735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Check from 4.1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035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Long-run house-price returns keep us from relying only on short-run current metrics</a:t>
            </a:r>
            <a:endParaRPr lang="en-US" sz="1100" dirty="0"/>
          </a:p>
        </p:txBody>
      </p:sp>
      <p:pic>
        <p:nvPicPr>
          <p:cNvPr id="5" name="Image 0" descr="/tmp/hw41deck/hw4.1/sd_uni_comparison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89166"/>
            <a:ext cx="6263640" cy="44740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3760" y="13716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</a:rPr>
              <a:t>What the 4.1 evidence says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223760" y="1664208"/>
            <a:ext cx="434340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1990–2019 average annual tract-level returns: USD 5.37%, SDSU 4.86%, UCSD 4.49%.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Near-campus premium within 15 km: USD +0.82 pp, SDSU +0.63 pp, UCSD -0.06 pp.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historical evidence supports SDSU as a credible choice, even if USD ranks slightly higher on old returns alone.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223760" y="4604004"/>
            <a:ext cx="4160520" cy="1555636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79208" y="4682532"/>
            <a:ext cx="3840480" cy="1386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</a:rPr>
              <a:t>Why this helps the story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</a:rPr>
              <a:t>We can say SDSU wins on today’s investability while also holding up reasonably well in the long-run historical record.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31620" y="606367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66666"/>
                </a:solidFill>
              </a:rPr>
              <a:t>Best use in the presentation: a robustness slide, not the core ranking slide.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631168" y="649224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77824"/>
            <a:ext cx="11368735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Recommendation, Risks, and How to Pitch 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035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SDSU first, keep UCSD second, and use USD as a benchmark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63627"/>
            <a:ext cx="5577840" cy="1580605"/>
          </a:xfrm>
          <a:prstGeom prst="roundRect">
            <a:avLst/>
          </a:prstGeom>
          <a:solidFill>
            <a:srgbClr val="FCEBED"/>
          </a:solidFill>
          <a:ln w="127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437676"/>
            <a:ext cx="457200" cy="879928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9536" y="1556547"/>
            <a:ext cx="228600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296888"/>
            <a:ext cx="1828800" cy="3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SDSU first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1764791"/>
            <a:ext cx="4572000" cy="598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Best balance of affordability, rent support, transit access, and visible housing expansion.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718590"/>
            <a:ext cx="5577840" cy="1580605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9808" y="2989036"/>
            <a:ext cx="457200" cy="879928"/>
          </a:xfrm>
          <a:prstGeom prst="ellipse">
            <a:avLst/>
          </a:prstGeom>
          <a:solidFill>
            <a:srgbClr val="00629B"/>
          </a:solidFill>
          <a:ln w="12700">
            <a:solidFill>
              <a:srgbClr val="0062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9536" y="3107907"/>
            <a:ext cx="228600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2877493"/>
            <a:ext cx="1828800" cy="3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UCSD second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222827"/>
            <a:ext cx="4572000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More expensive, but strategically attractive because of campus scale and the largest official housing pipeline.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2205" y="4396957"/>
            <a:ext cx="5577840" cy="1580605"/>
          </a:xfrm>
          <a:prstGeom prst="roundRect">
            <a:avLst/>
          </a:prstGeom>
          <a:solidFill>
            <a:srgbClr val="ECF7F0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9808" y="4605653"/>
            <a:ext cx="457200" cy="87992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9536" y="4724524"/>
            <a:ext cx="228600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4581335"/>
            <a:ext cx="3105443" cy="3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USD benchmark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25880" y="5036881"/>
            <a:ext cx="4572000" cy="598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Useful comparison point; weaker direct rail and expansion signal makes it less compelling as the lead recommendation.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29400" y="13898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</a:rPr>
              <a:t>Main risks to acknowledge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29400" y="1691640"/>
            <a:ext cx="493776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ZIPs are submarket proxies, not exact campus borders.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expansion can add supply as well as demand.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short-run price moves may be noisy, especially in a small comparison set.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next version should add vacancy, renter share, and income data.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629400" y="4206240"/>
            <a:ext cx="4892040" cy="1672046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39712" y="4297679"/>
            <a:ext cx="4498848" cy="151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</a:rPr>
              <a:t>How to say it in class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</a:rPr>
              <a:t>“We are not claiming SDSU has the highest return on every possible metric. We are claiming it is the best balanced and most investable university-bordering submarket in this simple, defensible screen.”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631168" y="649224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77824"/>
            <a:ext cx="11368735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035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geographic market: homes in the SDSU and UCSD university submarkets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1230"/>
                </a:solidFill>
              </a:rPr>
              <a:t>Final recommendation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7818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</a:rPr>
              <a:t>A REIT should prioritize university-bordering residential submarkets near SDSU first and UCSD second, using USD mainly as a benchmark.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2907792"/>
            <a:ext cx="3520440" cy="1645920"/>
          </a:xfrm>
          <a:prstGeom prst="roundRect">
            <a:avLst/>
          </a:prstGeom>
          <a:solidFill>
            <a:srgbClr val="FCEBED"/>
          </a:solidFill>
          <a:ln w="127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31455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1230"/>
                </a:solidFill>
              </a:rPr>
              <a:t>SDSU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9808" y="3406893"/>
            <a:ext cx="2926080" cy="1031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Best overall screen: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lower entry price, strongest yield, direct trolley access, and visible expansion.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43400" y="2907792"/>
            <a:ext cx="3520440" cy="164592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26280" y="31455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629B"/>
                </a:solidFill>
              </a:rPr>
              <a:t>UCSD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26280" y="3342131"/>
            <a:ext cx="29260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Second choice: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most strategic expansion pipeline, but weaker affordability and rent support.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19872" y="2907792"/>
            <a:ext cx="3520440" cy="1645920"/>
          </a:xfrm>
          <a:prstGeom prst="roundRect">
            <a:avLst/>
          </a:prstGeom>
          <a:solidFill>
            <a:srgbClr val="ECF7F0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02752" y="31455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B57"/>
                </a:solidFill>
              </a:rPr>
              <a:t>USD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02752" y="3365897"/>
            <a:ext cx="2926080" cy="1041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Benchmark only: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historical returns are solid, but the broader investability story is weaker.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143000" y="5074920"/>
            <a:ext cx="987552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17320" y="5235191"/>
            <a:ext cx="9326880" cy="543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</a:rPr>
              <a:t>Core message for the CEO: university submarkets are a disciplined way to find concrete real-estate opportunities and SDSU is the clearest first bet in San Diego.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631168" y="649224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1761</Words>
  <Application>Microsoft Macintosh PowerPoint</Application>
  <PresentationFormat>Widescreen</PresentationFormat>
  <Paragraphs>159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Clarendon BT Roman</vt:lpstr>
      <vt:lpstr>Clarendon BT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Submarkets: Investing in Homes Near Expanding Universities</dc:title>
  <dc:subject>University submarkets real estate final project</dc:subject>
  <dc:creator>OpenAI</dc:creator>
  <cp:lastModifiedBy>Anshell, Stephanie</cp:lastModifiedBy>
  <cp:revision>2</cp:revision>
  <dcterms:created xsi:type="dcterms:W3CDTF">2026-03-09T00:06:42Z</dcterms:created>
  <dcterms:modified xsi:type="dcterms:W3CDTF">2026-03-09T00:18:11Z</dcterms:modified>
</cp:coreProperties>
</file>